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9"/>
  </p:notesMasterIdLst>
  <p:sldIdLst>
    <p:sldId id="256" r:id="rId2"/>
    <p:sldId id="258" r:id="rId3"/>
    <p:sldId id="259" r:id="rId4"/>
    <p:sldId id="260" r:id="rId5"/>
    <p:sldId id="261" r:id="rId6"/>
    <p:sldId id="262" r:id="rId7"/>
    <p:sldId id="263" r:id="rId8"/>
  </p:sldIdLst>
  <p:sldSz cx="9144000" cy="5143500" type="screen16x9"/>
  <p:notesSz cx="6858000" cy="9144000"/>
  <p:embeddedFontLst>
    <p:embeddedFont>
      <p:font typeface="Audiowide" panose="020B0604020202020204" charset="0"/>
      <p:regular r:id="rId10"/>
    </p:embeddedFont>
    <p:embeddedFont>
      <p:font typeface="Merriweather Sans" pitchFamily="2" charset="0"/>
      <p:regular r:id="rId11"/>
      <p:bold r:id="rId12"/>
      <p:italic r:id="rId13"/>
      <p:boldItalic r:id="rId14"/>
    </p:embeddedFont>
    <p:embeddedFont>
      <p:font typeface="Nunito Light" pitchFamily="2" charset="0"/>
      <p:regular r:id="rId15"/>
      <p:italic r:id="rId16"/>
    </p:embeddedFont>
    <p:embeddedFont>
      <p:font typeface="Open Sans" panose="020B060603050402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78CAEE-7A25-4207-91C3-B7981A38E7FE}">
  <a:tblStyle styleId="{C178CAEE-7A25-4207-91C3-B7981A38E7F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078AB2-4E49-4780-8177-7A894D2BE6A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2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heme" Target="theme/theme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08613E4E-5E20-82A2-6539-655A0098D3E7}"/>
            </a:ext>
          </a:extLst>
        </p:cNvPr>
        <p:cNvGrpSpPr/>
        <p:nvPr/>
      </p:nvGrpSpPr>
      <p:grpSpPr>
        <a:xfrm>
          <a:off x="0" y="0"/>
          <a:ext cx="0" cy="0"/>
          <a:chOff x="0" y="0"/>
          <a:chExt cx="0" cy="0"/>
        </a:xfrm>
      </p:grpSpPr>
      <p:sp>
        <p:nvSpPr>
          <p:cNvPr id="184" name="Google Shape;184;g1125d80b419_0_200:notes">
            <a:extLst>
              <a:ext uri="{FF2B5EF4-FFF2-40B4-BE49-F238E27FC236}">
                <a16:creationId xmlns:a16="http://schemas.microsoft.com/office/drawing/2014/main" id="{6A0A0EA2-D2CB-D10E-C0C1-54DA8BD8E7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125d80b419_0_200:notes">
            <a:extLst>
              <a:ext uri="{FF2B5EF4-FFF2-40B4-BE49-F238E27FC236}">
                <a16:creationId xmlns:a16="http://schemas.microsoft.com/office/drawing/2014/main" id="{FDC82069-EFBC-F6FD-2446-FCE5502F34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755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83AC0F84-DDB2-13E8-94B1-0DD98C7CB9DB}"/>
            </a:ext>
          </a:extLst>
        </p:cNvPr>
        <p:cNvGrpSpPr/>
        <p:nvPr/>
      </p:nvGrpSpPr>
      <p:grpSpPr>
        <a:xfrm>
          <a:off x="0" y="0"/>
          <a:ext cx="0" cy="0"/>
          <a:chOff x="0" y="0"/>
          <a:chExt cx="0" cy="0"/>
        </a:xfrm>
      </p:grpSpPr>
      <p:sp>
        <p:nvSpPr>
          <p:cNvPr id="184" name="Google Shape;184;g1125d80b419_0_200:notes">
            <a:extLst>
              <a:ext uri="{FF2B5EF4-FFF2-40B4-BE49-F238E27FC236}">
                <a16:creationId xmlns:a16="http://schemas.microsoft.com/office/drawing/2014/main" id="{42BF1133-D6F5-5355-7646-60A98B552C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125d80b419_0_200:notes">
            <a:extLst>
              <a:ext uri="{FF2B5EF4-FFF2-40B4-BE49-F238E27FC236}">
                <a16:creationId xmlns:a16="http://schemas.microsoft.com/office/drawing/2014/main" id="{6EE16BCD-7184-2959-D754-E9BCE9376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1923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80EC0728-D27D-74B8-36D9-A2CCEDD13AE5}"/>
            </a:ext>
          </a:extLst>
        </p:cNvPr>
        <p:cNvGrpSpPr/>
        <p:nvPr/>
      </p:nvGrpSpPr>
      <p:grpSpPr>
        <a:xfrm>
          <a:off x="0" y="0"/>
          <a:ext cx="0" cy="0"/>
          <a:chOff x="0" y="0"/>
          <a:chExt cx="0" cy="0"/>
        </a:xfrm>
      </p:grpSpPr>
      <p:sp>
        <p:nvSpPr>
          <p:cNvPr id="184" name="Google Shape;184;g1125d80b419_0_200:notes">
            <a:extLst>
              <a:ext uri="{FF2B5EF4-FFF2-40B4-BE49-F238E27FC236}">
                <a16:creationId xmlns:a16="http://schemas.microsoft.com/office/drawing/2014/main" id="{220EC1B0-4F84-7BDA-C01C-F9BC737FB8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125d80b419_0_200:notes">
            <a:extLst>
              <a:ext uri="{FF2B5EF4-FFF2-40B4-BE49-F238E27FC236}">
                <a16:creationId xmlns:a16="http://schemas.microsoft.com/office/drawing/2014/main" id="{6DCD3574-E443-0C45-1425-FFA9716EEA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89159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10" name="Google Shape;10;p2"/>
          <p:cNvSpPr txBox="1">
            <a:spLocks noGrp="1"/>
          </p:cNvSpPr>
          <p:nvPr>
            <p:ph type="ctrTitle"/>
          </p:nvPr>
        </p:nvSpPr>
        <p:spPr>
          <a:xfrm>
            <a:off x="715050" y="949650"/>
            <a:ext cx="4297800" cy="2834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200"/>
              <a:buNone/>
              <a:defRPr sz="4000" b="0">
                <a:solidFill>
                  <a:schemeClr val="lt2"/>
                </a:solidFill>
                <a:latin typeface="Audiowide"/>
                <a:ea typeface="Audiowide"/>
                <a:cs typeface="Audiowide"/>
                <a:sym typeface="Audiowide"/>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5050" y="3784350"/>
            <a:ext cx="42978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14" name="Google Shape;14;p3"/>
          <p:cNvSpPr txBox="1">
            <a:spLocks noGrp="1"/>
          </p:cNvSpPr>
          <p:nvPr>
            <p:ph type="title"/>
          </p:nvPr>
        </p:nvSpPr>
        <p:spPr>
          <a:xfrm>
            <a:off x="715100" y="2465850"/>
            <a:ext cx="3657600" cy="1431000"/>
          </a:xfrm>
          <a:prstGeom prst="rect">
            <a:avLst/>
          </a:prstGeom>
          <a:effectLst>
            <a:outerShdw blurRad="57150" dist="19050" dir="5400000" algn="bl" rotWithShape="0">
              <a:schemeClr val="dk1">
                <a:alpha val="50000"/>
              </a:schemeClr>
            </a:outerShdw>
          </a:effectLst>
        </p:spPr>
        <p:txBody>
          <a:bodyPr spcFirstLastPara="1" wrap="square" lIns="91425" tIns="91425" rIns="91425" bIns="91425" anchor="t" anchorCtr="0">
            <a:noAutofit/>
          </a:bodyPr>
          <a:lstStyle>
            <a:lvl1pPr lvl="0">
              <a:spcBef>
                <a:spcPts val="0"/>
              </a:spcBef>
              <a:spcAft>
                <a:spcPts val="0"/>
              </a:spcAft>
              <a:buSzPts val="5000"/>
              <a:buNone/>
              <a:defRPr sz="4500">
                <a:solidFill>
                  <a:schemeClr val="dk1"/>
                </a:solidFill>
              </a:defRPr>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15" name="Google Shape;15;p3"/>
          <p:cNvSpPr txBox="1">
            <a:spLocks noGrp="1"/>
          </p:cNvSpPr>
          <p:nvPr>
            <p:ph type="title" idx="2" hasCustomPrompt="1"/>
          </p:nvPr>
        </p:nvSpPr>
        <p:spPr>
          <a:xfrm>
            <a:off x="715100" y="1246650"/>
            <a:ext cx="2011800" cy="1371600"/>
          </a:xfrm>
          <a:prstGeom prst="rect">
            <a:avLst/>
          </a:prstGeom>
          <a:noFill/>
          <a:effectLst>
            <a:outerShdw blurRad="57150" dist="19050" dir="5400000" algn="bl" rotWithShape="0">
              <a:schemeClr val="l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6000"/>
              <a:buNone/>
              <a:defRPr sz="10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pic>
        <p:nvPicPr>
          <p:cNvPr id="31" name="Google Shape;31;p7"/>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32" name="Google Shape;32;p7"/>
          <p:cNvSpPr txBox="1">
            <a:spLocks noGrp="1"/>
          </p:cNvSpPr>
          <p:nvPr>
            <p:ph type="title"/>
          </p:nvPr>
        </p:nvSpPr>
        <p:spPr>
          <a:xfrm>
            <a:off x="720000" y="756850"/>
            <a:ext cx="3840600"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33" name="Google Shape;33;p7"/>
          <p:cNvSpPr txBox="1">
            <a:spLocks noGrp="1"/>
          </p:cNvSpPr>
          <p:nvPr>
            <p:ph type="body" idx="1"/>
          </p:nvPr>
        </p:nvSpPr>
        <p:spPr>
          <a:xfrm>
            <a:off x="720000" y="1253350"/>
            <a:ext cx="3840600" cy="3154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2"/>
              </a:buClr>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34" name="Google Shape;34;p7"/>
          <p:cNvSpPr>
            <a:spLocks noGrp="1"/>
          </p:cNvSpPr>
          <p:nvPr>
            <p:ph type="pic" idx="2"/>
          </p:nvPr>
        </p:nvSpPr>
        <p:spPr>
          <a:xfrm>
            <a:off x="5156200" y="246450"/>
            <a:ext cx="3714600" cy="4650600"/>
          </a:xfrm>
          <a:prstGeom prst="rect">
            <a:avLst/>
          </a:prstGeom>
          <a:noFill/>
          <a:ln w="19050" cap="flat" cmpd="sng">
            <a:solidFill>
              <a:schemeClr val="lt2"/>
            </a:solidFill>
            <a:prstDash val="solid"/>
            <a:round/>
            <a:headEnd type="none" w="sm" len="sm"/>
            <a:tailEnd type="none" w="sm" len="sm"/>
          </a:ln>
          <a:effectLst>
            <a:outerShdw blurRad="71438" dist="57150" dir="7920000" algn="bl" rotWithShape="0">
              <a:schemeClr val="accent2">
                <a:alpha val="45000"/>
              </a:schemeClr>
            </a:outerShdw>
          </a:effectLst>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pic>
        <p:nvPicPr>
          <p:cNvPr id="39" name="Google Shape;39;p9"/>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40" name="Google Shape;40;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1" name="Google Shape;41;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a:spLocks noGrp="1"/>
          </p:cNvSpPr>
          <p:nvPr>
            <p:ph type="pic" idx="2"/>
          </p:nvPr>
        </p:nvSpPr>
        <p:spPr>
          <a:xfrm>
            <a:off x="0" y="0"/>
            <a:ext cx="9144000" cy="5143500"/>
          </a:xfrm>
          <a:prstGeom prst="rect">
            <a:avLst/>
          </a:prstGeom>
          <a:noFill/>
          <a:ln>
            <a:noFill/>
          </a:ln>
        </p:spPr>
      </p:sp>
      <p:sp>
        <p:nvSpPr>
          <p:cNvPr id="44" name="Google Shape;44;p10"/>
          <p:cNvSpPr txBox="1">
            <a:spLocks noGrp="1"/>
          </p:cNvSpPr>
          <p:nvPr>
            <p:ph type="title"/>
          </p:nvPr>
        </p:nvSpPr>
        <p:spPr>
          <a:xfrm>
            <a:off x="720000" y="3859100"/>
            <a:ext cx="7704000" cy="7494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pic>
        <p:nvPicPr>
          <p:cNvPr id="46" name="Google Shape;46;p11"/>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47" name="Google Shape;47;p11"/>
          <p:cNvSpPr txBox="1">
            <a:spLocks noGrp="1"/>
          </p:cNvSpPr>
          <p:nvPr>
            <p:ph type="title" hasCustomPrompt="1"/>
          </p:nvPr>
        </p:nvSpPr>
        <p:spPr>
          <a:xfrm>
            <a:off x="1284000" y="1366338"/>
            <a:ext cx="6576000" cy="1511100"/>
          </a:xfrm>
          <a:prstGeom prst="rect">
            <a:avLst/>
          </a:prstGeom>
        </p:spPr>
        <p:txBody>
          <a:bodyPr spcFirstLastPara="1" wrap="square" lIns="91425" tIns="91425" rIns="91425" bIns="91425" anchor="t"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8" name="Google Shape;48;p11"/>
          <p:cNvSpPr txBox="1">
            <a:spLocks noGrp="1"/>
          </p:cNvSpPr>
          <p:nvPr>
            <p:ph type="subTitle" idx="1"/>
          </p:nvPr>
        </p:nvSpPr>
        <p:spPr>
          <a:xfrm>
            <a:off x="1284000" y="3063763"/>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0"/>
        <p:cNvGrpSpPr/>
        <p:nvPr/>
      </p:nvGrpSpPr>
      <p:grpSpPr>
        <a:xfrm>
          <a:off x="0" y="0"/>
          <a:ext cx="0" cy="0"/>
          <a:chOff x="0" y="0"/>
          <a:chExt cx="0" cy="0"/>
        </a:xfrm>
      </p:grpSpPr>
      <p:pic>
        <p:nvPicPr>
          <p:cNvPr id="51" name="Google Shape;51;p13"/>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52" name="Google Shape;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 name="Google Shape;53;p13"/>
          <p:cNvSpPr txBox="1">
            <a:spLocks noGrp="1"/>
          </p:cNvSpPr>
          <p:nvPr>
            <p:ph type="title" idx="2" hasCustomPrompt="1"/>
          </p:nvPr>
        </p:nvSpPr>
        <p:spPr>
          <a:xfrm>
            <a:off x="719975" y="1728533"/>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title" idx="3" hasCustomPrompt="1"/>
          </p:nvPr>
        </p:nvSpPr>
        <p:spPr>
          <a:xfrm>
            <a:off x="719975" y="3161941"/>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title" idx="4" hasCustomPrompt="1"/>
          </p:nvPr>
        </p:nvSpPr>
        <p:spPr>
          <a:xfrm>
            <a:off x="3291900" y="1728533"/>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title" idx="5" hasCustomPrompt="1"/>
          </p:nvPr>
        </p:nvSpPr>
        <p:spPr>
          <a:xfrm>
            <a:off x="3291900" y="3161941"/>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6" hasCustomPrompt="1"/>
          </p:nvPr>
        </p:nvSpPr>
        <p:spPr>
          <a:xfrm>
            <a:off x="5868700" y="1728533"/>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7" hasCustomPrompt="1"/>
          </p:nvPr>
        </p:nvSpPr>
        <p:spPr>
          <a:xfrm>
            <a:off x="5868700" y="3161941"/>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1"/>
          </p:nvPr>
        </p:nvSpPr>
        <p:spPr>
          <a:xfrm>
            <a:off x="719975" y="2258075"/>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0" name="Google Shape;60;p13"/>
          <p:cNvSpPr txBox="1">
            <a:spLocks noGrp="1"/>
          </p:cNvSpPr>
          <p:nvPr>
            <p:ph type="subTitle" idx="8"/>
          </p:nvPr>
        </p:nvSpPr>
        <p:spPr>
          <a:xfrm>
            <a:off x="3291900" y="2258075"/>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1" name="Google Shape;61;p13"/>
          <p:cNvSpPr txBox="1">
            <a:spLocks noGrp="1"/>
          </p:cNvSpPr>
          <p:nvPr>
            <p:ph type="subTitle" idx="9"/>
          </p:nvPr>
        </p:nvSpPr>
        <p:spPr>
          <a:xfrm>
            <a:off x="5868700" y="2258075"/>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2" name="Google Shape;62;p13"/>
          <p:cNvSpPr txBox="1">
            <a:spLocks noGrp="1"/>
          </p:cNvSpPr>
          <p:nvPr>
            <p:ph type="subTitle" idx="13"/>
          </p:nvPr>
        </p:nvSpPr>
        <p:spPr>
          <a:xfrm>
            <a:off x="719975" y="3691550"/>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3" name="Google Shape;63;p13"/>
          <p:cNvSpPr txBox="1">
            <a:spLocks noGrp="1"/>
          </p:cNvSpPr>
          <p:nvPr>
            <p:ph type="subTitle" idx="14"/>
          </p:nvPr>
        </p:nvSpPr>
        <p:spPr>
          <a:xfrm>
            <a:off x="3294338" y="3691550"/>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4" name="Google Shape;64;p13"/>
          <p:cNvSpPr txBox="1">
            <a:spLocks noGrp="1"/>
          </p:cNvSpPr>
          <p:nvPr>
            <p:ph type="subTitle" idx="15"/>
          </p:nvPr>
        </p:nvSpPr>
        <p:spPr>
          <a:xfrm>
            <a:off x="5868700" y="3691550"/>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34"/>
        <p:cNvGrpSpPr/>
        <p:nvPr/>
      </p:nvGrpSpPr>
      <p:grpSpPr>
        <a:xfrm>
          <a:off x="0" y="0"/>
          <a:ext cx="0" cy="0"/>
          <a:chOff x="0" y="0"/>
          <a:chExt cx="0" cy="0"/>
        </a:xfrm>
      </p:grpSpPr>
      <p:pic>
        <p:nvPicPr>
          <p:cNvPr id="135" name="Google Shape;135;p22"/>
          <p:cNvPicPr preferRelativeResize="0"/>
          <p:nvPr/>
        </p:nvPicPr>
        <p:blipFill>
          <a:blip r:embed="rId2">
            <a:alphaModFix amt="3000"/>
          </a:blip>
          <a:stretch>
            <a:fillRect/>
          </a:stretch>
        </p:blipFill>
        <p:spPr>
          <a:xfrm flipH="1">
            <a:off x="0" y="0"/>
            <a:ext cx="9143990" cy="51435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3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1pPr>
            <a:lvl2pPr lvl="1"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2pPr>
            <a:lvl3pPr lvl="2"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3pPr>
            <a:lvl4pPr lvl="3"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4pPr>
            <a:lvl5pPr lvl="4"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5pPr>
            <a:lvl6pPr lvl="5"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6pPr>
            <a:lvl7pPr lvl="6"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7pPr>
            <a:lvl8pPr lvl="7"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8pPr>
            <a:lvl9pPr lvl="8"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5" r:id="rId4"/>
    <p:sldLayoutId id="2147483656" r:id="rId5"/>
    <p:sldLayoutId id="2147483657" r:id="rId6"/>
    <p:sldLayoutId id="2147483658" r:id="rId7"/>
    <p:sldLayoutId id="2147483659" r:id="rId8"/>
    <p:sldLayoutId id="2147483668" r:id="rId9"/>
    <p:sldLayoutId id="214748366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ctrTitle"/>
          </p:nvPr>
        </p:nvSpPr>
        <p:spPr>
          <a:xfrm>
            <a:off x="715049" y="949650"/>
            <a:ext cx="4613953" cy="283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ETHICAL</a:t>
            </a:r>
            <a:br>
              <a:rPr lang="en" dirty="0"/>
            </a:br>
            <a:r>
              <a:rPr lang="en" dirty="0"/>
              <a:t>INITIATIVES IN AUTONOMOUS</a:t>
            </a:r>
            <a:br>
              <a:rPr lang="en" dirty="0"/>
            </a:br>
            <a:r>
              <a:rPr lang="en" dirty="0"/>
              <a:t>VEHICLES </a:t>
            </a:r>
            <a:endParaRPr dirty="0">
              <a:solidFill>
                <a:schemeClr val="dk1"/>
              </a:solidFill>
            </a:endParaRPr>
          </a:p>
        </p:txBody>
      </p:sp>
      <p:pic>
        <p:nvPicPr>
          <p:cNvPr id="149" name="Google Shape;149;p27"/>
          <p:cNvPicPr preferRelativeResize="0"/>
          <p:nvPr/>
        </p:nvPicPr>
        <p:blipFill>
          <a:blip r:embed="rId3">
            <a:alphaModFix/>
          </a:blip>
          <a:stretch>
            <a:fillRect/>
          </a:stretch>
        </p:blipFill>
        <p:spPr>
          <a:xfrm>
            <a:off x="5493825" y="464625"/>
            <a:ext cx="2584525" cy="4214252"/>
          </a:xfrm>
          <a:prstGeom prst="rect">
            <a:avLst/>
          </a:prstGeom>
          <a:noFill/>
          <a:ln>
            <a:noFill/>
          </a:ln>
          <a:effectLst>
            <a:outerShdw blurRad="285750" dist="38100" dir="4680000" algn="bl" rotWithShape="0">
              <a:schemeClr val="lt2">
                <a:alpha val="25000"/>
              </a:scheme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9"/>
          <p:cNvSpPr txBox="1">
            <a:spLocks noGrp="1"/>
          </p:cNvSpPr>
          <p:nvPr>
            <p:ph type="title"/>
          </p:nvPr>
        </p:nvSpPr>
        <p:spPr>
          <a:xfrm>
            <a:off x="720000" y="445025"/>
            <a:ext cx="7704000"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64" name="Google Shape;164;p29"/>
          <p:cNvSpPr txBox="1">
            <a:spLocks noGrp="1"/>
          </p:cNvSpPr>
          <p:nvPr>
            <p:ph type="title" idx="2"/>
          </p:nvPr>
        </p:nvSpPr>
        <p:spPr>
          <a:xfrm>
            <a:off x="719975" y="1728533"/>
            <a:ext cx="9144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66" name="Google Shape;166;p29"/>
          <p:cNvSpPr txBox="1">
            <a:spLocks noGrp="1"/>
          </p:cNvSpPr>
          <p:nvPr>
            <p:ph type="title" idx="4"/>
          </p:nvPr>
        </p:nvSpPr>
        <p:spPr>
          <a:xfrm>
            <a:off x="3899551" y="1744915"/>
            <a:ext cx="9144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168" name="Google Shape;168;p29"/>
          <p:cNvSpPr txBox="1">
            <a:spLocks noGrp="1"/>
          </p:cNvSpPr>
          <p:nvPr>
            <p:ph type="title" idx="6"/>
          </p:nvPr>
        </p:nvSpPr>
        <p:spPr>
          <a:xfrm>
            <a:off x="2223369" y="3085142"/>
            <a:ext cx="9144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170" name="Google Shape;170;p29"/>
          <p:cNvSpPr txBox="1">
            <a:spLocks noGrp="1"/>
          </p:cNvSpPr>
          <p:nvPr>
            <p:ph type="subTitle" idx="1"/>
          </p:nvPr>
        </p:nvSpPr>
        <p:spPr>
          <a:xfrm>
            <a:off x="577569" y="2253141"/>
            <a:ext cx="25602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Abstract</a:t>
            </a:r>
            <a:endParaRPr dirty="0"/>
          </a:p>
        </p:txBody>
      </p:sp>
      <p:sp>
        <p:nvSpPr>
          <p:cNvPr id="171" name="Google Shape;171;p29"/>
          <p:cNvSpPr txBox="1">
            <a:spLocks noGrp="1"/>
          </p:cNvSpPr>
          <p:nvPr>
            <p:ph type="subTitle" idx="8"/>
          </p:nvPr>
        </p:nvSpPr>
        <p:spPr>
          <a:xfrm>
            <a:off x="3291900" y="2308892"/>
            <a:ext cx="25602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 Definition</a:t>
            </a:r>
            <a:endParaRPr dirty="0"/>
          </a:p>
        </p:txBody>
      </p:sp>
      <p:sp>
        <p:nvSpPr>
          <p:cNvPr id="172" name="Google Shape;172;p29"/>
          <p:cNvSpPr txBox="1">
            <a:spLocks noGrp="1"/>
          </p:cNvSpPr>
          <p:nvPr>
            <p:ph type="subTitle" idx="9"/>
          </p:nvPr>
        </p:nvSpPr>
        <p:spPr>
          <a:xfrm>
            <a:off x="2068693" y="3598499"/>
            <a:ext cx="25602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References</a:t>
            </a:r>
            <a:endParaRPr dirty="0"/>
          </a:p>
        </p:txBody>
      </p:sp>
      <p:pic>
        <p:nvPicPr>
          <p:cNvPr id="14" name="Picture 13">
            <a:extLst>
              <a:ext uri="{FF2B5EF4-FFF2-40B4-BE49-F238E27FC236}">
                <a16:creationId xmlns:a16="http://schemas.microsoft.com/office/drawing/2014/main" id="{2B6E80D9-5667-C656-0E97-DDDD8E7A02B9}"/>
              </a:ext>
            </a:extLst>
          </p:cNvPr>
          <p:cNvPicPr>
            <a:picLocks noChangeAspect="1"/>
          </p:cNvPicPr>
          <p:nvPr/>
        </p:nvPicPr>
        <p:blipFill>
          <a:blip r:embed="rId3"/>
          <a:stretch>
            <a:fillRect/>
          </a:stretch>
        </p:blipFill>
        <p:spPr>
          <a:xfrm>
            <a:off x="5852100" y="120328"/>
            <a:ext cx="3156989" cy="48343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0"/>
          <p:cNvSpPr txBox="1">
            <a:spLocks noGrp="1"/>
          </p:cNvSpPr>
          <p:nvPr>
            <p:ph type="title"/>
          </p:nvPr>
        </p:nvSpPr>
        <p:spPr>
          <a:xfrm>
            <a:off x="715100" y="2465850"/>
            <a:ext cx="3886200" cy="143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ABSTRACT</a:t>
            </a:r>
            <a:endParaRPr dirty="0"/>
          </a:p>
        </p:txBody>
      </p:sp>
      <p:sp>
        <p:nvSpPr>
          <p:cNvPr id="181" name="Google Shape;181;p30"/>
          <p:cNvSpPr txBox="1">
            <a:spLocks noGrp="1"/>
          </p:cNvSpPr>
          <p:nvPr>
            <p:ph type="title" idx="2"/>
          </p:nvPr>
        </p:nvSpPr>
        <p:spPr>
          <a:xfrm>
            <a:off x="715100" y="1246650"/>
            <a:ext cx="2011800" cy="137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pic>
        <p:nvPicPr>
          <p:cNvPr id="182" name="Google Shape;182;p30"/>
          <p:cNvPicPr preferRelativeResize="0"/>
          <p:nvPr/>
        </p:nvPicPr>
        <p:blipFill rotWithShape="1">
          <a:blip r:embed="rId3">
            <a:alphaModFix/>
          </a:blip>
          <a:srcRect t="426" b="426"/>
          <a:stretch/>
        </p:blipFill>
        <p:spPr>
          <a:xfrm>
            <a:off x="4601300" y="1028599"/>
            <a:ext cx="4009299" cy="3086301"/>
          </a:xfrm>
          <a:prstGeom prst="rect">
            <a:avLst/>
          </a:prstGeom>
          <a:noFill/>
          <a:ln>
            <a:noFill/>
          </a:ln>
          <a:effectLst>
            <a:outerShdw blurRad="285750" dist="38100" dir="4680000" algn="bl" rotWithShape="0">
              <a:schemeClr val="lt2">
                <a:alpha val="25000"/>
              </a:scheme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1"/>
          <p:cNvSpPr txBox="1">
            <a:spLocks noGrp="1"/>
          </p:cNvSpPr>
          <p:nvPr>
            <p:ph type="title"/>
          </p:nvPr>
        </p:nvSpPr>
        <p:spPr>
          <a:xfrm>
            <a:off x="896292" y="421799"/>
            <a:ext cx="38406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ABSTRACT</a:t>
            </a:r>
            <a:endParaRPr dirty="0"/>
          </a:p>
        </p:txBody>
      </p:sp>
      <p:sp>
        <p:nvSpPr>
          <p:cNvPr id="188" name="Google Shape;188;p31"/>
          <p:cNvSpPr txBox="1">
            <a:spLocks noGrp="1"/>
          </p:cNvSpPr>
          <p:nvPr>
            <p:ph type="body" idx="1"/>
          </p:nvPr>
        </p:nvSpPr>
        <p:spPr>
          <a:xfrm>
            <a:off x="731400" y="994499"/>
            <a:ext cx="4170384" cy="3637461"/>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Wingdings" panose="05000000000000000000" pitchFamily="2" charset="2"/>
              <a:buChar char="Ø"/>
            </a:pPr>
            <a:r>
              <a:rPr lang="en-IN" dirty="0"/>
              <a:t>AI in self-driving cars is used for sensing, decision-making, predictive modelling, and natural language processing. This enables them to detect objects, predict behavior, plan routes, and communicate with passengers, ensuring a safe driving experience.</a:t>
            </a:r>
          </a:p>
          <a:p>
            <a:pPr marL="171450" lvl="0" indent="-171450" algn="l" rtl="0">
              <a:lnSpc>
                <a:spcPct val="150000"/>
              </a:lnSpc>
              <a:spcBef>
                <a:spcPts val="0"/>
              </a:spcBef>
              <a:spcAft>
                <a:spcPts val="0"/>
              </a:spcAft>
              <a:buFont typeface="Wingdings" panose="05000000000000000000" pitchFamily="2" charset="2"/>
              <a:buChar char="Ø"/>
            </a:pPr>
            <a:r>
              <a:rPr lang="en-IN" dirty="0"/>
              <a:t>The emergence of autonomous vehicles as a popular transportation alternative has raised ethical concerns regarding their programming and decision-making abilities.</a:t>
            </a:r>
          </a:p>
          <a:p>
            <a:pPr marL="171450" indent="-171450">
              <a:lnSpc>
                <a:spcPct val="150000"/>
              </a:lnSpc>
              <a:buFont typeface="Wingdings" panose="05000000000000000000" pitchFamily="2" charset="2"/>
              <a:buChar char="Ø"/>
            </a:pPr>
            <a:r>
              <a:rPr lang="en-IN" dirty="0"/>
              <a:t> This research paper aims to explore the ethical initiatives that can be implemented in autonomous vehicles to address these concerns.</a:t>
            </a:r>
            <a:endParaRPr dirty="0"/>
          </a:p>
        </p:txBody>
      </p:sp>
      <p:pic>
        <p:nvPicPr>
          <p:cNvPr id="5" name="Picture Placeholder 4">
            <a:extLst>
              <a:ext uri="{FF2B5EF4-FFF2-40B4-BE49-F238E27FC236}">
                <a16:creationId xmlns:a16="http://schemas.microsoft.com/office/drawing/2014/main" id="{E71171F0-986F-6534-029B-CF79CD2E0C16}"/>
              </a:ext>
            </a:extLst>
          </p:cNvPr>
          <p:cNvPicPr>
            <a:picLocks noGrp="1" noChangeAspect="1"/>
          </p:cNvPicPr>
          <p:nvPr>
            <p:ph type="pic" idx="2"/>
          </p:nvPr>
        </p:nvPicPr>
        <p:blipFill>
          <a:blip r:embed="rId3"/>
          <a:srcRect l="24762" r="24762"/>
          <a:stretch>
            <a:fillRect/>
          </a:stretch>
        </p:blipFill>
        <p:spPr>
          <a:xfrm>
            <a:off x="5134131" y="246450"/>
            <a:ext cx="3751659" cy="4650600"/>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0661620F-FE09-4DB7-1718-7DFA9936BF50}"/>
            </a:ext>
          </a:extLst>
        </p:cNvPr>
        <p:cNvGrpSpPr/>
        <p:nvPr/>
      </p:nvGrpSpPr>
      <p:grpSpPr>
        <a:xfrm>
          <a:off x="0" y="0"/>
          <a:ext cx="0" cy="0"/>
          <a:chOff x="0" y="0"/>
          <a:chExt cx="0" cy="0"/>
        </a:xfrm>
      </p:grpSpPr>
      <p:sp>
        <p:nvSpPr>
          <p:cNvPr id="187" name="Google Shape;187;p31">
            <a:extLst>
              <a:ext uri="{FF2B5EF4-FFF2-40B4-BE49-F238E27FC236}">
                <a16:creationId xmlns:a16="http://schemas.microsoft.com/office/drawing/2014/main" id="{8CF3E3F8-C73C-5B5E-DEA9-BB326F2B4F03}"/>
              </a:ext>
            </a:extLst>
          </p:cNvPr>
          <p:cNvSpPr txBox="1">
            <a:spLocks noGrp="1"/>
          </p:cNvSpPr>
          <p:nvPr>
            <p:ph type="title"/>
          </p:nvPr>
        </p:nvSpPr>
        <p:spPr>
          <a:xfrm>
            <a:off x="2099095" y="373100"/>
            <a:ext cx="6482774"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DEFINITION</a:t>
            </a:r>
            <a:endParaRPr dirty="0"/>
          </a:p>
        </p:txBody>
      </p:sp>
      <p:sp>
        <p:nvSpPr>
          <p:cNvPr id="188" name="Google Shape;188;p31">
            <a:extLst>
              <a:ext uri="{FF2B5EF4-FFF2-40B4-BE49-F238E27FC236}">
                <a16:creationId xmlns:a16="http://schemas.microsoft.com/office/drawing/2014/main" id="{FF7328D0-767C-D563-AD3A-ECE4A1997D80}"/>
              </a:ext>
            </a:extLst>
          </p:cNvPr>
          <p:cNvSpPr txBox="1">
            <a:spLocks noGrp="1"/>
          </p:cNvSpPr>
          <p:nvPr>
            <p:ph type="body" idx="1"/>
          </p:nvPr>
        </p:nvSpPr>
        <p:spPr>
          <a:xfrm>
            <a:off x="682840" y="994500"/>
            <a:ext cx="7981473" cy="3154500"/>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Wingdings" panose="05000000000000000000" pitchFamily="2" charset="2"/>
              <a:buChar char="Ø"/>
            </a:pPr>
            <a:r>
              <a:rPr lang="en-IN" dirty="0"/>
              <a:t>Autonomous vehicles operate using advanced technologies such as artificial intelligence, sensors, and algorithms. While these capabilities bring numerous benefits such as increased safety and efficiency, they also </a:t>
            </a:r>
            <a:r>
              <a:rPr lang="en-IN" b="1" dirty="0">
                <a:solidFill>
                  <a:schemeClr val="tx2"/>
                </a:solidFill>
              </a:rPr>
              <a:t>raise ethical concerns. </a:t>
            </a:r>
            <a:r>
              <a:rPr lang="en-IN" dirty="0"/>
              <a:t>These concerns primarily revolve around the decision-making process of autonomous vehicles, particularly in scenarios where there is a risk of harm to humans.</a:t>
            </a:r>
          </a:p>
          <a:p>
            <a:pPr marL="0" lvl="0" indent="0" algn="l" rtl="0">
              <a:lnSpc>
                <a:spcPct val="150000"/>
              </a:lnSpc>
              <a:spcBef>
                <a:spcPts val="0"/>
              </a:spcBef>
              <a:spcAft>
                <a:spcPts val="0"/>
              </a:spcAft>
              <a:buNone/>
            </a:pPr>
            <a:endParaRPr lang="en-IN" dirty="0"/>
          </a:p>
          <a:p>
            <a:pPr marL="171450" lvl="0" indent="-171450" algn="l" rtl="0">
              <a:lnSpc>
                <a:spcPct val="150000"/>
              </a:lnSpc>
              <a:spcBef>
                <a:spcPts val="0"/>
              </a:spcBef>
              <a:spcAft>
                <a:spcPts val="0"/>
              </a:spcAft>
              <a:buFont typeface="Wingdings" panose="05000000000000000000" pitchFamily="2" charset="2"/>
              <a:buChar char="Ø"/>
            </a:pPr>
            <a:r>
              <a:rPr lang="en-IN" dirty="0"/>
              <a:t>Self-driving vehicles are designed to be safe in a variety of weather conditions, but just like human drivers, their </a:t>
            </a:r>
            <a:r>
              <a:rPr lang="en-IN" b="1" dirty="0">
                <a:solidFill>
                  <a:schemeClr val="tx2"/>
                </a:solidFill>
              </a:rPr>
              <a:t>performance can be affected by bad weather</a:t>
            </a:r>
            <a:r>
              <a:rPr lang="en-IN" dirty="0"/>
              <a:t> such as rain, snow, fog, and extreme temperatures.</a:t>
            </a:r>
          </a:p>
          <a:p>
            <a:pPr marL="171450" lvl="0" indent="-171450" algn="l" rtl="0">
              <a:lnSpc>
                <a:spcPct val="150000"/>
              </a:lnSpc>
              <a:spcBef>
                <a:spcPts val="0"/>
              </a:spcBef>
              <a:spcAft>
                <a:spcPts val="0"/>
              </a:spcAft>
              <a:buFont typeface="Wingdings" panose="05000000000000000000" pitchFamily="2" charset="2"/>
              <a:buChar char="Ø"/>
            </a:pPr>
            <a:endParaRPr lang="en-IN" dirty="0"/>
          </a:p>
          <a:p>
            <a:pPr marL="171450" lvl="0" indent="-171450" algn="l" rtl="0">
              <a:lnSpc>
                <a:spcPct val="150000"/>
              </a:lnSpc>
              <a:spcBef>
                <a:spcPts val="0"/>
              </a:spcBef>
              <a:spcAft>
                <a:spcPts val="0"/>
              </a:spcAft>
              <a:buFont typeface="Wingdings" panose="05000000000000000000" pitchFamily="2" charset="2"/>
              <a:buChar char="Ø"/>
            </a:pPr>
            <a:r>
              <a:rPr lang="en-IN" dirty="0"/>
              <a:t> LiDAR, which works via bouncing laser beams off surrounding objects, might be sensing a wall of </a:t>
            </a:r>
            <a:r>
              <a:rPr lang="en-IN" dirty="0" err="1"/>
              <a:t>gray</a:t>
            </a:r>
            <a:r>
              <a:rPr lang="en-IN" dirty="0"/>
              <a:t> rather than a weather occurrence</a:t>
            </a:r>
            <a:r>
              <a:rPr lang="en-IN" b="1" dirty="0"/>
              <a:t>. </a:t>
            </a:r>
            <a:r>
              <a:rPr lang="en-IN" b="1" dirty="0">
                <a:solidFill>
                  <a:schemeClr val="tx2"/>
                </a:solidFill>
              </a:rPr>
              <a:t>It can’t overcome physics </a:t>
            </a:r>
            <a:r>
              <a:rPr lang="en-IN" dirty="0"/>
              <a:t>and may draw some false positives and negatives from its surroundings. Acting alone, LiDAR may suggest slowing down so that it has an extended amount of time to deduce what’s happening around it.</a:t>
            </a:r>
            <a:endParaRPr dirty="0"/>
          </a:p>
        </p:txBody>
      </p:sp>
    </p:spTree>
    <p:extLst>
      <p:ext uri="{BB962C8B-B14F-4D97-AF65-F5344CB8AC3E}">
        <p14:creationId xmlns:p14="http://schemas.microsoft.com/office/powerpoint/2010/main" val="1435637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145DD93D-FEF2-49AA-10B6-01E4247FD2B0}"/>
            </a:ext>
          </a:extLst>
        </p:cNvPr>
        <p:cNvGrpSpPr/>
        <p:nvPr/>
      </p:nvGrpSpPr>
      <p:grpSpPr>
        <a:xfrm>
          <a:off x="0" y="0"/>
          <a:ext cx="0" cy="0"/>
          <a:chOff x="0" y="0"/>
          <a:chExt cx="0" cy="0"/>
        </a:xfrm>
      </p:grpSpPr>
      <p:sp>
        <p:nvSpPr>
          <p:cNvPr id="187" name="Google Shape;187;p31">
            <a:extLst>
              <a:ext uri="{FF2B5EF4-FFF2-40B4-BE49-F238E27FC236}">
                <a16:creationId xmlns:a16="http://schemas.microsoft.com/office/drawing/2014/main" id="{8B5F8C2C-5D77-999E-F344-E3EC9E77DB8E}"/>
              </a:ext>
            </a:extLst>
          </p:cNvPr>
          <p:cNvSpPr txBox="1">
            <a:spLocks noGrp="1"/>
          </p:cNvSpPr>
          <p:nvPr>
            <p:ph type="title"/>
          </p:nvPr>
        </p:nvSpPr>
        <p:spPr>
          <a:xfrm>
            <a:off x="2099095" y="373100"/>
            <a:ext cx="6482774"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DEFINITION</a:t>
            </a:r>
            <a:endParaRPr dirty="0"/>
          </a:p>
        </p:txBody>
      </p:sp>
      <p:sp>
        <p:nvSpPr>
          <p:cNvPr id="188" name="Google Shape;188;p31">
            <a:extLst>
              <a:ext uri="{FF2B5EF4-FFF2-40B4-BE49-F238E27FC236}">
                <a16:creationId xmlns:a16="http://schemas.microsoft.com/office/drawing/2014/main" id="{FD38FEEA-7DC2-F0B9-8064-0E300D2766F8}"/>
              </a:ext>
            </a:extLst>
          </p:cNvPr>
          <p:cNvSpPr txBox="1">
            <a:spLocks noGrp="1"/>
          </p:cNvSpPr>
          <p:nvPr>
            <p:ph type="body" idx="1"/>
          </p:nvPr>
        </p:nvSpPr>
        <p:spPr>
          <a:xfrm>
            <a:off x="682840" y="994500"/>
            <a:ext cx="4990937" cy="3154500"/>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Wingdings" panose="05000000000000000000" pitchFamily="2" charset="2"/>
              <a:buChar char="Ø"/>
            </a:pPr>
            <a:r>
              <a:rPr lang="en-IN" dirty="0"/>
              <a:t>Another ethical concern is the </a:t>
            </a:r>
            <a:r>
              <a:rPr lang="en-IN" b="1" dirty="0">
                <a:solidFill>
                  <a:schemeClr val="tx2"/>
                </a:solidFill>
              </a:rPr>
              <a:t>potential for discrimination </a:t>
            </a:r>
            <a:r>
              <a:rPr lang="en-IN" dirty="0"/>
              <a:t>in autonomous vehicles. The algorithms and data used to make decisions are programmed by humans, which means prejudices can be unintentionally embedded in the coding. This could result in </a:t>
            </a:r>
            <a:r>
              <a:rPr lang="en-IN" b="1" dirty="0">
                <a:solidFill>
                  <a:schemeClr val="tx2"/>
                </a:solidFill>
              </a:rPr>
              <a:t>certain groups being unfairly targeted</a:t>
            </a:r>
            <a:r>
              <a:rPr lang="en-IN" dirty="0"/>
              <a:t> leading to discrimination and inequality.</a:t>
            </a:r>
          </a:p>
          <a:p>
            <a:pPr marL="0" lvl="0" indent="0" algn="l" rtl="0">
              <a:lnSpc>
                <a:spcPct val="150000"/>
              </a:lnSpc>
              <a:spcBef>
                <a:spcPts val="0"/>
              </a:spcBef>
              <a:spcAft>
                <a:spcPts val="0"/>
              </a:spcAft>
              <a:buNone/>
            </a:pPr>
            <a:endParaRPr lang="en-IN" dirty="0"/>
          </a:p>
          <a:p>
            <a:pPr marL="171450" lvl="0" indent="-171450" algn="l" rtl="0">
              <a:lnSpc>
                <a:spcPct val="150000"/>
              </a:lnSpc>
              <a:spcBef>
                <a:spcPts val="0"/>
              </a:spcBef>
              <a:spcAft>
                <a:spcPts val="0"/>
              </a:spcAft>
              <a:buFont typeface="Wingdings" panose="05000000000000000000" pitchFamily="2" charset="2"/>
              <a:buChar char="Ø"/>
            </a:pPr>
            <a:r>
              <a:rPr lang="en-IN" dirty="0"/>
              <a:t>These ethical concerns cannot be overlooked, as they have the potential to undermine the public's trust and acceptance of autonomous vehicles. Therefore, </a:t>
            </a:r>
            <a:r>
              <a:rPr lang="en-IN" b="1" dirty="0">
                <a:solidFill>
                  <a:schemeClr val="tx2"/>
                </a:solidFill>
              </a:rPr>
              <a:t>there is a need for ethical initiatives to </a:t>
            </a:r>
            <a:r>
              <a:rPr lang="en-IN" dirty="0"/>
              <a:t>be implemented in the development and deployment of autonomous vehicles</a:t>
            </a:r>
            <a:endParaRPr dirty="0"/>
          </a:p>
        </p:txBody>
      </p:sp>
      <p:pic>
        <p:nvPicPr>
          <p:cNvPr id="1026" name="Picture 2" descr="1: Autonomous Driving example [5] | Download Scientific Diagram">
            <a:extLst>
              <a:ext uri="{FF2B5EF4-FFF2-40B4-BE49-F238E27FC236}">
                <a16:creationId xmlns:a16="http://schemas.microsoft.com/office/drawing/2014/main" id="{C5370A65-E0DA-6F91-28C8-D4FA628AF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6171" y="1175166"/>
            <a:ext cx="3048000" cy="3595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182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661AF7FF-C299-22C9-10E3-8D3203FFB283}"/>
            </a:ext>
          </a:extLst>
        </p:cNvPr>
        <p:cNvGrpSpPr/>
        <p:nvPr/>
      </p:nvGrpSpPr>
      <p:grpSpPr>
        <a:xfrm>
          <a:off x="0" y="0"/>
          <a:ext cx="0" cy="0"/>
          <a:chOff x="0" y="0"/>
          <a:chExt cx="0" cy="0"/>
        </a:xfrm>
      </p:grpSpPr>
      <p:sp>
        <p:nvSpPr>
          <p:cNvPr id="187" name="Google Shape;187;p31">
            <a:extLst>
              <a:ext uri="{FF2B5EF4-FFF2-40B4-BE49-F238E27FC236}">
                <a16:creationId xmlns:a16="http://schemas.microsoft.com/office/drawing/2014/main" id="{ADB94559-CD4F-05CD-7282-48DEE67D2569}"/>
              </a:ext>
            </a:extLst>
          </p:cNvPr>
          <p:cNvSpPr txBox="1">
            <a:spLocks noGrp="1"/>
          </p:cNvSpPr>
          <p:nvPr>
            <p:ph type="title"/>
          </p:nvPr>
        </p:nvSpPr>
        <p:spPr>
          <a:xfrm>
            <a:off x="2912075" y="421800"/>
            <a:ext cx="3319849"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REFERENCES</a:t>
            </a:r>
            <a:endParaRPr dirty="0"/>
          </a:p>
        </p:txBody>
      </p:sp>
      <p:sp>
        <p:nvSpPr>
          <p:cNvPr id="188" name="Google Shape;188;p31">
            <a:extLst>
              <a:ext uri="{FF2B5EF4-FFF2-40B4-BE49-F238E27FC236}">
                <a16:creationId xmlns:a16="http://schemas.microsoft.com/office/drawing/2014/main" id="{CB7458C6-D983-AFA9-78FB-F96AAA71F11E}"/>
              </a:ext>
            </a:extLst>
          </p:cNvPr>
          <p:cNvSpPr txBox="1">
            <a:spLocks noGrp="1"/>
          </p:cNvSpPr>
          <p:nvPr>
            <p:ph type="body" idx="1"/>
          </p:nvPr>
        </p:nvSpPr>
        <p:spPr>
          <a:xfrm>
            <a:off x="690335" y="1189372"/>
            <a:ext cx="7981473" cy="3154500"/>
          </a:xfrm>
          <a:prstGeom prst="rect">
            <a:avLst/>
          </a:prstGeom>
        </p:spPr>
        <p:txBody>
          <a:bodyPr spcFirstLastPara="1" wrap="square" lIns="91425" tIns="91425" rIns="91425" bIns="91425" anchor="t" anchorCtr="0">
            <a:noAutofit/>
          </a:bodyPr>
          <a:lstStyle/>
          <a:p>
            <a:pPr marL="228600" indent="-228600">
              <a:lnSpc>
                <a:spcPct val="150000"/>
              </a:lnSpc>
              <a:buFont typeface="+mj-lt"/>
              <a:buAutoNum type="arabicPeriod"/>
            </a:pPr>
            <a:r>
              <a:rPr lang="en-IN" b="1" i="0" dirty="0">
                <a:solidFill>
                  <a:srgbClr val="FFFFFF"/>
                </a:solidFill>
                <a:effectLst/>
                <a:latin typeface="Merriweather Sans" panose="020F0502020204030204" pitchFamily="2" charset="0"/>
              </a:rPr>
              <a:t>Ethical Decision Making in Autonomous Vehicles: The AV Ethics Project  (2020)- Katherine Evans, Nelson De Moura, Stephane Chauvier, Raja Chatila &amp; Ebru Dorgan.</a:t>
            </a:r>
          </a:p>
          <a:p>
            <a:pPr marL="228600" indent="-228600">
              <a:lnSpc>
                <a:spcPct val="150000"/>
              </a:lnSpc>
              <a:buFont typeface="+mj-lt"/>
              <a:buAutoNum type="arabicPeriod"/>
            </a:pPr>
            <a:endParaRPr lang="en-IN" b="1" dirty="0">
              <a:solidFill>
                <a:srgbClr val="FFFFFF"/>
              </a:solidFill>
              <a:latin typeface="Merriweather Sans" panose="020F0502020204030204" pitchFamily="2" charset="0"/>
            </a:endParaRPr>
          </a:p>
          <a:p>
            <a:pPr marL="228600" indent="-228600">
              <a:lnSpc>
                <a:spcPct val="150000"/>
              </a:lnSpc>
              <a:buFont typeface="+mj-lt"/>
              <a:buAutoNum type="arabicPeriod"/>
            </a:pPr>
            <a:r>
              <a:rPr lang="en-IN" b="1" dirty="0">
                <a:solidFill>
                  <a:srgbClr val="FFFFFF"/>
                </a:solidFill>
                <a:latin typeface="Merriweather Sans" panose="020F0502020204030204" pitchFamily="2" charset="0"/>
              </a:rPr>
              <a:t>Perception and sensing for autonomous vehicles under adverse weather conditions: A survey (2023) - Yuxiao Zhang, Alexander Carballo b c d, Hanting Yang a, Kazuya Takeda.</a:t>
            </a:r>
          </a:p>
          <a:p>
            <a:pPr marL="228600" indent="-228600">
              <a:lnSpc>
                <a:spcPct val="150000"/>
              </a:lnSpc>
              <a:buFont typeface="+mj-lt"/>
              <a:buAutoNum type="arabicPeriod"/>
            </a:pPr>
            <a:endParaRPr lang="en-IN" b="1" i="0" dirty="0">
              <a:solidFill>
                <a:srgbClr val="FFFFFF"/>
              </a:solidFill>
              <a:effectLst/>
              <a:latin typeface="Merriweather Sans" panose="020F0502020204030204" pitchFamily="2" charset="0"/>
            </a:endParaRPr>
          </a:p>
          <a:p>
            <a:pPr marL="228600" indent="-228600">
              <a:lnSpc>
                <a:spcPct val="150000"/>
              </a:lnSpc>
              <a:buFont typeface="+mj-lt"/>
              <a:buAutoNum type="arabicPeriod"/>
            </a:pPr>
            <a:r>
              <a:rPr lang="en-IN" b="1" i="0" dirty="0">
                <a:solidFill>
                  <a:srgbClr val="FFFFFF"/>
                </a:solidFill>
                <a:effectLst/>
                <a:latin typeface="Merriweather Sans" panose="020F0502020204030204" pitchFamily="2" charset="0"/>
              </a:rPr>
              <a:t>Autonomous Vehicles and Weather: What You Need to Know</a:t>
            </a:r>
            <a:r>
              <a:rPr lang="en-IN" b="1" dirty="0">
                <a:solidFill>
                  <a:srgbClr val="FFFFFF"/>
                </a:solidFill>
                <a:latin typeface="Merriweather Sans" panose="020F0502020204030204" pitchFamily="2" charset="0"/>
              </a:rPr>
              <a:t>  (2023)- Cara Hogan</a:t>
            </a:r>
            <a:endParaRPr lang="en-IN" b="1" i="0" dirty="0">
              <a:solidFill>
                <a:srgbClr val="FFFFFF"/>
              </a:solidFill>
              <a:effectLst/>
              <a:latin typeface="Merriweather Sans" panose="020F0502020204030204" pitchFamily="2" charset="0"/>
            </a:endParaRPr>
          </a:p>
        </p:txBody>
      </p:sp>
    </p:spTree>
    <p:extLst>
      <p:ext uri="{BB962C8B-B14F-4D97-AF65-F5344CB8AC3E}">
        <p14:creationId xmlns:p14="http://schemas.microsoft.com/office/powerpoint/2010/main" val="3607200085"/>
      </p:ext>
    </p:extLst>
  </p:cSld>
  <p:clrMapOvr>
    <a:masterClrMapping/>
  </p:clrMapOvr>
</p:sld>
</file>

<file path=ppt/theme/theme1.xml><?xml version="1.0" encoding="utf-8"?>
<a:theme xmlns:a="http://schemas.openxmlformats.org/drawingml/2006/main" name="Cars Technology Innovation Newsletter by Slidesgo">
  <a:themeElements>
    <a:clrScheme name="Simple Light">
      <a:dk1>
        <a:srgbClr val="FFFFFF"/>
      </a:dk1>
      <a:lt1>
        <a:srgbClr val="0B171E"/>
      </a:lt1>
      <a:dk2>
        <a:srgbClr val="1F3947"/>
      </a:dk2>
      <a:lt2>
        <a:srgbClr val="2DCECF"/>
      </a:lt2>
      <a:accent1>
        <a:srgbClr val="80C3C3"/>
      </a:accent1>
      <a:accent2>
        <a:srgbClr val="B8DDDD"/>
      </a:accent2>
      <a:accent3>
        <a:srgbClr val="E0EEEE"/>
      </a:accent3>
      <a:accent4>
        <a:srgbClr val="D01A3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449</Words>
  <Application>Microsoft Office PowerPoint</Application>
  <PresentationFormat>On-screen Show (16:9)</PresentationFormat>
  <Paragraphs>30</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Audiowide</vt:lpstr>
      <vt:lpstr>Nunito Light</vt:lpstr>
      <vt:lpstr>Wingdings</vt:lpstr>
      <vt:lpstr>Merriweather Sans</vt:lpstr>
      <vt:lpstr>Open Sans</vt:lpstr>
      <vt:lpstr>Cars Technology Innovation Newsletter by Slidesgo</vt:lpstr>
      <vt:lpstr>ETHICAL INITIATIVES IN AUTONOMOUS VEHICLES </vt:lpstr>
      <vt:lpstr>TABLE OF CONTENTS</vt:lpstr>
      <vt:lpstr>ABSTRACT</vt:lpstr>
      <vt:lpstr>ABSTRACT</vt:lpstr>
      <vt:lpstr>PROBLEM DEFINITION</vt:lpstr>
      <vt:lpstr>PROBLEM DEFINITION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INITIATIVES IN AUTONOMOUS VEHICLES </dc:title>
  <dc:creator>KRISHNA PREETI A</dc:creator>
  <cp:lastModifiedBy>KRISHNA PREETI A</cp:lastModifiedBy>
  <cp:revision>1</cp:revision>
  <dcterms:modified xsi:type="dcterms:W3CDTF">2024-02-14T16:58:10Z</dcterms:modified>
</cp:coreProperties>
</file>